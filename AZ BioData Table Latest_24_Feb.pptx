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665" r:id="rId4"/>
    <p:sldId id="666" r:id="rId5"/>
    <p:sldId id="661" r:id="rId6"/>
    <p:sldId id="662" r:id="rId7"/>
    <p:sldId id="664" r:id="rId8"/>
    <p:sldId id="663" r:id="rId9"/>
    <p:sldId id="6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/>
    <p:restoredTop sz="79278"/>
  </p:normalViewPr>
  <p:slideViewPr>
    <p:cSldViewPr snapToGrid="0">
      <p:cViewPr varScale="1">
        <p:scale>
          <a:sx n="86" d="100"/>
          <a:sy n="86" d="100"/>
        </p:scale>
        <p:origin x="1592" y="184"/>
      </p:cViewPr>
      <p:guideLst/>
    </p:cSldViewPr>
  </p:slideViewPr>
  <p:notesTextViewPr>
    <p:cViewPr>
      <p:scale>
        <a:sx n="130" d="100"/>
        <a:sy n="13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76A4F-3B66-964A-97EA-617ED812AD44}" type="datetimeFigureOut">
              <a:rPr lang="en-US" smtClean="0"/>
              <a:t>2/23/25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EFA98-6BA4-8E40-A053-5449EE0D0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2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D56E54-8581-4155-BEAE-A19063102C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294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C5263-CB97-176C-A474-63E9D4F0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97DCF-1F75-3615-88FD-951A91E76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671FF-8A99-8DE1-62DD-C6230020B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nd = no data  </a:t>
            </a:r>
          </a:p>
          <a:p>
            <a:r>
              <a:rPr lang="en-US"/>
              <a:t>Aba = Acinetobacter baumannii</a:t>
            </a:r>
          </a:p>
          <a:p>
            <a:r>
              <a:rPr lang="en-US"/>
              <a:t>Eco = Escherichia coli</a:t>
            </a:r>
          </a:p>
          <a:p>
            <a:r>
              <a:rPr lang="en-US"/>
              <a:t>Kpn = Klebsiella pneumoniae   </a:t>
            </a:r>
          </a:p>
          <a:p>
            <a:r>
              <a:rPr lang="en-US"/>
              <a:t>Pae = Pseudomonas aeruginosa </a:t>
            </a:r>
          </a:p>
          <a:p>
            <a:r>
              <a:rPr lang="en-US"/>
              <a:t>Pmi = Proteus mirabilis</a:t>
            </a:r>
          </a:p>
          <a:p>
            <a:r>
              <a:rPr lang="en-US"/>
              <a:t>Sau = Staphylococcus aureus</a:t>
            </a:r>
          </a:p>
          <a:p>
            <a:r>
              <a:rPr lang="en-US"/>
              <a:t>D = efflux deficient   </a:t>
            </a:r>
          </a:p>
          <a:p>
            <a:r>
              <a:rPr lang="en-US"/>
              <a:t>WT = wild-type  </a:t>
            </a:r>
          </a:p>
          <a:p>
            <a:r>
              <a:rPr lang="en-US"/>
              <a:t>Ref = from the reference paper (https://pubs.acs.org/doi/full/10.1021/cb500360c)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F5E0A-4EF1-0B40-6FED-34A441365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D56E54-8581-4155-BEAE-A19063102C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835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A7F9B-E189-B490-37D6-55DDE055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0FE39-634F-EFCD-59CA-8CD45B1E2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57996-EF85-7AD0-0014-8B0849A38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C8D59-0B08-4A3C-0285-8EB041F31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D56E54-8581-4155-BEAE-A19063102C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528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9B5E-CB16-6CB8-E69F-05D765BB1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FFA102-24BF-7ABC-D2BF-E4AE8A634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43D7C-3EEE-52DB-82E9-E9668002B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ACAB6-BEB8-3DF0-55D2-404628C31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D56E54-8581-4155-BEAE-A19063102C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4647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B5D07-41FC-58CE-6C9A-1D893606B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3DE0D-5823-6610-824F-26585350E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25B59-BC1F-49DF-0D6A-6A982B856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79DA4-257D-2239-78AE-DF7CC8D10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D56E54-8581-4155-BEAE-A19063102C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3331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AE8F-908C-692F-8C89-DE7BE4155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F9AA7-7ABA-82B4-A2B5-9B9BB09B6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F9A35-9E05-B9BD-6E4C-698AF83A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A2629-6D51-CB87-3E44-8F2512A5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63843-AA02-32F9-F9EA-BBC6D405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5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5821-2210-C384-FD87-FDAD3DFC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5BA57-1F68-57E3-7F37-637344761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AA2CC-E1BB-DB92-0BBA-5B977D1E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2E919-A801-739F-9F4B-76952CE8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B2E07-C38B-1626-6828-88317BF7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08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F5F56-627D-1728-E990-DEAE7033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DDF44-6446-657A-EF55-1676B1326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B2DC2-A882-E016-3109-2AC592EF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FF0EC-1EFA-8BE4-9524-9B0483076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419D1-93EA-CCC9-70DE-914E802B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63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C56F-A3F2-C26B-522D-E14F331F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C4AD4-B5DC-CAF4-E0C2-F4BD7049A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97071-0FDE-22EA-5FE9-EA213AFBB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1E348-F209-848E-1393-5CD7D925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10099-15B7-F496-CDDD-9A4F9EC4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17F36-0C1B-19FE-8138-67CC8B4E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70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16FC-1A58-5490-B166-0DF99ED4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7321D-33C7-FE84-C68E-88EFD89DA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BFD7E-C78B-79DF-405A-DFFDADBFD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EC89E-102C-ACB0-4912-7BC67577D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56CCF-2D57-5AEB-2FD4-EE6088D77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57E5B-CD7B-D520-1951-FE32B4530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82745-3C66-1D92-E314-0B0361F7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1F8F2-E596-171E-95AA-2CEECB62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79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6158-B32F-6A88-056E-F0E0C155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AB6E9-C8DA-E9BB-3070-FA2169905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A313F-076B-A0DB-8717-19686364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BA9B9-25D5-B065-11DB-057279A6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7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82DC9-A751-2FCE-04E8-C9171E4D4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C53A3-609B-2B0F-336C-DBF504FD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1C31C-0834-D4FF-96C4-612175B0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7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49D6-1906-68D0-1529-2962A8AC2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C25FD-38F7-E999-BE5F-E6259E41A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CDC3E-2289-CA37-F164-AF785F4D7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0A3B-C15D-FA54-AC93-0C90AB3A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26B34-D409-EF41-F2CE-F64CE7B88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DF10D-AA11-3664-27E7-69472EF3B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00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3BCB2-AC94-6A62-4C2B-B7BBAB5F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BE9B1F-A14D-6204-D05B-BCC18DBAC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FA5E1-A9E8-7C8A-AEA4-0FCADCAF2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9E04C-A21C-2029-E848-80A311A2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B2E07-2F74-C3AB-E95D-0399BF853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78151-3900-4358-6684-8902E115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4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13D0-0C88-44B6-697E-FED521447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B599D-49F0-65CE-4583-6E6B52F52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160E2-769B-1706-9479-32E7C92EA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8A0C4-49A3-1E40-74C5-06A447B5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99EEC-0E47-8938-5B08-F91988CE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1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600D8-8C81-8B4A-30F8-9B126FFFC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D3276-E67E-A924-5FAA-6852F20C1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73D57-1944-6997-619F-245E6F94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3AFA3-8BC2-E26F-8CAC-EE827033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4A073-A0A6-080D-98D5-EC355D85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08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>
            <a:spLocks noGrp="1"/>
          </p:cNvSpPr>
          <p:nvPr>
            <p:ph type="pic" idx="21"/>
          </p:nvPr>
        </p:nvSpPr>
        <p:spPr>
          <a:xfrm>
            <a:off x="0" y="-63500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3562350"/>
            <a:ext cx="10985500" cy="2324100"/>
          </a:xfrm>
          <a:prstGeom prst="rect">
            <a:avLst/>
          </a:prstGeom>
        </p:spPr>
        <p:txBody>
          <a:bodyPr anchor="b"/>
          <a:lstStyle>
            <a:lvl1pPr>
              <a:defRPr sz="5800" spc="-116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03845" y="553069"/>
            <a:ext cx="10984311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0" y="5804955"/>
            <a:ext cx="10985500" cy="558476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095590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>
            <a:spLocks noGrp="1"/>
          </p:cNvSpPr>
          <p:nvPr>
            <p:ph type="pic" idx="21"/>
          </p:nvPr>
        </p:nvSpPr>
        <p:spPr>
          <a:xfrm>
            <a:off x="4613287" y="635000"/>
            <a:ext cx="8420076" cy="55922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635000"/>
            <a:ext cx="4889500" cy="2941137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0" y="3530288"/>
            <a:ext cx="4889500" cy="2692712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00750" y="6488825"/>
            <a:ext cx="243656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292188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29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528599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771284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>
              <a:defRPr sz="5800" b="0" spc="-116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00750" y="6488825"/>
            <a:ext cx="243656" cy="2410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294577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10985500" cy="717475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395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65530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10985500" cy="71755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395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1pPr>
            <a:lvl2pPr marL="0" indent="2286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2pPr>
            <a:lvl3pPr marL="0" indent="4572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3pPr>
            <a:lvl4pPr marL="0" indent="6858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4pPr>
            <a:lvl5pPr marL="0" indent="9144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615896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460422"/>
            <a:ext cx="10985500" cy="193715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2286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829392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537964"/>
            <a:ext cx="10985500" cy="362079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2286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413109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4230809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40413" y="5337727"/>
            <a:ext cx="10074626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76962" y="2469930"/>
            <a:ext cx="10438077" cy="1918140"/>
          </a:xfrm>
          <a:prstGeom prst="rect">
            <a:avLst/>
          </a:prstGeom>
        </p:spPr>
        <p:txBody>
          <a:bodyPr/>
          <a:lstStyle>
            <a:lvl1pPr marL="319462" indent="-2349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319462" indent="-63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319462" indent="2222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319462" indent="4508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319462" indent="6794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540711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Hot-air balloons viewed from below against a blue sky"/>
          <p:cNvSpPr>
            <a:spLocks noGrp="1"/>
          </p:cNvSpPr>
          <p:nvPr>
            <p:ph type="pic" sz="quarter" idx="21"/>
          </p:nvPr>
        </p:nvSpPr>
        <p:spPr>
          <a:xfrm>
            <a:off x="7718252" y="635000"/>
            <a:ext cx="4083584" cy="27114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Close-up of the top of a hot-air balloon viewed from above"/>
          <p:cNvSpPr>
            <a:spLocks noGrp="1"/>
          </p:cNvSpPr>
          <p:nvPr>
            <p:ph type="pic" sz="quarter" idx="22"/>
          </p:nvPr>
        </p:nvSpPr>
        <p:spPr>
          <a:xfrm>
            <a:off x="7730886" y="3542986"/>
            <a:ext cx="4074207" cy="27161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Hot-air balloons viewed from below against a blue sky"/>
          <p:cNvSpPr>
            <a:spLocks noGrp="1"/>
          </p:cNvSpPr>
          <p:nvPr>
            <p:ph type="pic" idx="23"/>
          </p:nvPr>
        </p:nvSpPr>
        <p:spPr>
          <a:xfrm>
            <a:off x="-62318" y="635000"/>
            <a:ext cx="8429610" cy="56197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3473020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358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0524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610743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50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7830-0F53-F441-9194-C4AEE5B4D792}" type="datetimeFigureOut">
              <a:rPr lang="en-US" smtClean="0">
                <a:solidFill>
                  <a:prstClr val="white">
                    <a:tint val="75000"/>
                  </a:prstClr>
                </a:solidFill>
                <a:latin typeface="Calibri"/>
              </a:rPr>
              <a:pPr/>
              <a:t>2/23/25</a:t>
            </a:fld>
            <a:endParaRPr lang="en-US">
              <a:solidFill>
                <a:prstClr val="white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99100" y="6486708"/>
            <a:ext cx="237244" cy="241092"/>
          </a:xfrm>
        </p:spPr>
        <p:txBody>
          <a:bodyPr/>
          <a:lstStyle/>
          <a:p>
            <a:fld id="{A6784FFB-830A-BE49-841C-2BC3B5E2BEF2}" type="slidenum">
              <a:rPr lang="en-US" smtClean="0">
                <a:solidFill>
                  <a:prstClr val="white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293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B8CB1A-CC8F-F668-63DC-74169255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028DA-EEC1-474F-6529-B85AC0C1C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6DBFA-5B8D-F840-A49E-9F2C3EC95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F550CE-A15F-1A4F-B012-9FDD6B5F35ED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509E1-30D8-782C-A145-DBBBECBCD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62FBA-4477-9849-284B-6B8C6C582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6AEDD-9337-6641-9283-2F457A88B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2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10985500" cy="71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2124252"/>
            <a:ext cx="10985500" cy="412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00750" y="6486708"/>
            <a:ext cx="243656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92100">
              <a:defRPr sz="9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347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/>
  <p:hf hdr="0" ftr="0" dt="0"/>
  <p:txStyles>
    <p:titleStyle>
      <a:lvl1pPr marL="0" marR="0" indent="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04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609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914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219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5240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1828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133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438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743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10DFA-F321-888C-E167-AD484465FA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 Biodata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1884847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8479-E9B5-AA0D-072A-31E278E6E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the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0E172-0B00-E6D6-CD9D-CD1A0511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nd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dirty="0"/>
              <a:t>= missing essential data from the table for publication, </a:t>
            </a:r>
          </a:p>
          <a:p>
            <a:pPr marL="0" indent="0">
              <a:buNone/>
            </a:pPr>
            <a:r>
              <a:rPr lang="en-US" dirty="0"/>
              <a:t>1) lucky if already had data but just not reported yet, or can remake for a retest </a:t>
            </a:r>
          </a:p>
          <a:p>
            <a:pPr marL="0" indent="0">
              <a:buNone/>
            </a:pPr>
            <a:r>
              <a:rPr lang="en-US" dirty="0"/>
              <a:t>2) please let us know the sample amount to send for IC50s </a:t>
            </a:r>
            <a:r>
              <a:rPr lang="en-US" dirty="0">
                <a:solidFill>
                  <a:srgbClr val="C00000"/>
                </a:solidFill>
              </a:rPr>
              <a:t>(1-5mg?) </a:t>
            </a:r>
            <a:r>
              <a:rPr lang="en-US" dirty="0"/>
              <a:t>and MIC&amp;MBC against Eco (Porin Truncated &amp; Wildtype)  &amp; </a:t>
            </a:r>
            <a:r>
              <a:rPr lang="en-US" dirty="0" err="1"/>
              <a:t>Pae</a:t>
            </a:r>
            <a:r>
              <a:rPr lang="en-US" dirty="0"/>
              <a:t> (Wildtype) </a:t>
            </a:r>
            <a:r>
              <a:rPr lang="en-US" dirty="0">
                <a:solidFill>
                  <a:srgbClr val="C00000"/>
                </a:solidFill>
              </a:rPr>
              <a:t>[still need 50mg?]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nd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= missing data from the table (not essential for publication but can be good to have if got extra materials to test, but definitely </a:t>
            </a:r>
            <a:r>
              <a:rPr lang="en-US" dirty="0" err="1"/>
              <a:t>prioritise</a:t>
            </a:r>
            <a:r>
              <a:rPr lang="en-US" dirty="0"/>
              <a:t> with Eco (Porin Truncated &amp; Wildtype)  &amp; </a:t>
            </a:r>
            <a:r>
              <a:rPr lang="en-US" dirty="0" err="1"/>
              <a:t>Pae</a:t>
            </a:r>
            <a:r>
              <a:rPr lang="en-US" dirty="0"/>
              <a:t> (Wildtype)</a:t>
            </a:r>
          </a:p>
          <a:p>
            <a:r>
              <a:rPr lang="en-US" sz="28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nd</a:t>
            </a:r>
            <a:r>
              <a:rPr lang="en-US" sz="2800" b="1" dirty="0">
                <a:solidFill>
                  <a:srgbClr val="C00000"/>
                </a:solidFill>
                <a:highlight>
                  <a:srgbClr val="FFFF00"/>
                </a:highlight>
              </a:rPr>
              <a:t> (will ship soon) </a:t>
            </a:r>
            <a:r>
              <a:rPr lang="en-US" sz="2800" dirty="0"/>
              <a:t>= missing data because Yuhang has not shipped yet </a:t>
            </a:r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(by the end of Feb)</a:t>
            </a:r>
          </a:p>
          <a:p>
            <a:r>
              <a:rPr lang="en-US" b="1" dirty="0">
                <a:highlight>
                  <a:srgbClr val="00FF00"/>
                </a:highlight>
              </a:rPr>
              <a:t>Data =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b="1" dirty="0">
                <a:highlight>
                  <a:srgbClr val="00FF00"/>
                </a:highlight>
              </a:rPr>
              <a:t>Completion on data collection</a:t>
            </a:r>
            <a:endParaRPr lang="en-US" sz="2800" b="1" dirty="0">
              <a:highlight>
                <a:srgbClr val="00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50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3C2AC-C5A4-96FA-739F-FDCA62A8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DFF30-B1AE-AC6F-0757-52BA9D60C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nd</a:t>
            </a:r>
            <a:r>
              <a:rPr lang="en-US" dirty="0"/>
              <a:t> = no data  </a:t>
            </a:r>
          </a:p>
          <a:p>
            <a:r>
              <a:rPr lang="en-US" dirty="0"/>
              <a:t>Aba = Acinetobacter baumannii 6113</a:t>
            </a:r>
          </a:p>
          <a:p>
            <a:r>
              <a:rPr lang="en-US" dirty="0"/>
              <a:t>Eco = Escherichia coli 25922 or K12</a:t>
            </a:r>
          </a:p>
          <a:p>
            <a:r>
              <a:rPr lang="en-US" dirty="0" err="1"/>
              <a:t>EcoD</a:t>
            </a:r>
            <a:r>
              <a:rPr lang="en-US" dirty="0"/>
              <a:t> = Eco </a:t>
            </a:r>
            <a:r>
              <a:rPr lang="en-US" dirty="0" err="1"/>
              <a:t>TolC</a:t>
            </a:r>
            <a:r>
              <a:rPr lang="en-US" baseline="30000" dirty="0"/>
              <a:t>- </a:t>
            </a:r>
            <a:r>
              <a:rPr lang="en-US" dirty="0"/>
              <a:t>mutant</a:t>
            </a:r>
          </a:p>
          <a:p>
            <a:r>
              <a:rPr lang="en-US" dirty="0" err="1"/>
              <a:t>Kpn</a:t>
            </a:r>
            <a:r>
              <a:rPr lang="en-US" dirty="0"/>
              <a:t> = Klebsiella pneumoniae 13882</a:t>
            </a:r>
          </a:p>
          <a:p>
            <a:r>
              <a:rPr lang="en-US" dirty="0" err="1"/>
              <a:t>Pae</a:t>
            </a:r>
            <a:r>
              <a:rPr lang="en-US" dirty="0"/>
              <a:t> = Pseudomonas aeruginosa PAO1</a:t>
            </a:r>
          </a:p>
          <a:p>
            <a:r>
              <a:rPr lang="en-US" dirty="0" err="1"/>
              <a:t>Pmi</a:t>
            </a:r>
            <a:r>
              <a:rPr lang="en-US" dirty="0"/>
              <a:t> = Proteus mirabilis 432002</a:t>
            </a:r>
          </a:p>
          <a:p>
            <a:r>
              <a:rPr lang="en-US" dirty="0"/>
              <a:t>Sau = Staphylococcus aureus 29213</a:t>
            </a:r>
          </a:p>
          <a:p>
            <a:r>
              <a:rPr lang="en-US" dirty="0"/>
              <a:t>Ref = from the reference paper (https://</a:t>
            </a:r>
            <a:r>
              <a:rPr lang="en-US" dirty="0" err="1"/>
              <a:t>pubs.acs.org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/full/10.1021/cb500360c)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13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AC45-4848-33F5-FD12-C6B262B1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068F-A788-E7AF-7B32-09F85265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</a:t>
            </a:r>
            <a:r>
              <a:rPr lang="en-US" dirty="0" err="1"/>
              <a:t>Data_Alcohols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3777B5-97C6-CC57-B929-E0F62C001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583660"/>
              </p:ext>
            </p:extLst>
          </p:nvPr>
        </p:nvGraphicFramePr>
        <p:xfrm>
          <a:off x="603250" y="1179651"/>
          <a:ext cx="11547166" cy="5967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166">
                  <a:extLst>
                    <a:ext uri="{9D8B030D-6E8A-4147-A177-3AD203B41FA5}">
                      <a16:colId xmlns:a16="http://schemas.microsoft.com/office/drawing/2014/main" val="1376602469"/>
                    </a:ext>
                  </a:extLst>
                </a:gridCol>
                <a:gridCol w="1788566">
                  <a:extLst>
                    <a:ext uri="{9D8B030D-6E8A-4147-A177-3AD203B41FA5}">
                      <a16:colId xmlns:a16="http://schemas.microsoft.com/office/drawing/2014/main" val="2163170557"/>
                    </a:ext>
                  </a:extLst>
                </a:gridCol>
                <a:gridCol w="1993573">
                  <a:extLst>
                    <a:ext uri="{9D8B030D-6E8A-4147-A177-3AD203B41FA5}">
                      <a16:colId xmlns:a16="http://schemas.microsoft.com/office/drawing/2014/main" val="457361682"/>
                    </a:ext>
                  </a:extLst>
                </a:gridCol>
                <a:gridCol w="1963136">
                  <a:extLst>
                    <a:ext uri="{9D8B030D-6E8A-4147-A177-3AD203B41FA5}">
                      <a16:colId xmlns:a16="http://schemas.microsoft.com/office/drawing/2014/main" val="42936662"/>
                    </a:ext>
                  </a:extLst>
                </a:gridCol>
                <a:gridCol w="2160971">
                  <a:extLst>
                    <a:ext uri="{9D8B030D-6E8A-4147-A177-3AD203B41FA5}">
                      <a16:colId xmlns:a16="http://schemas.microsoft.com/office/drawing/2014/main" val="3757256748"/>
                    </a:ext>
                  </a:extLst>
                </a:gridCol>
                <a:gridCol w="2145754">
                  <a:extLst>
                    <a:ext uri="{9D8B030D-6E8A-4147-A177-3AD203B41FA5}">
                      <a16:colId xmlns:a16="http://schemas.microsoft.com/office/drawing/2014/main" val="3681044851"/>
                    </a:ext>
                  </a:extLst>
                </a:gridCol>
              </a:tblGrid>
              <a:tr h="16619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Round1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300163"/>
                  </a:ext>
                </a:extLst>
              </a:tr>
              <a:tr h="27112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IC50_Pae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0.143 ± 0.024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1.061 ± 0.197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0.115 ± 0.022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0.663 ± 0.057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nM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0.200 ± 0.022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321177"/>
                  </a:ext>
                </a:extLst>
              </a:tr>
              <a:tr h="27112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Ki_Pae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74.5 ± 15.2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nM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618 ± 78.9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nM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89.8 ± 13.1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nM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391 ± 32.4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nM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123 ± 15.4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nM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132263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MIC_EcoTolC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8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2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0726359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MBC_EcoTolC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8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2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9198385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MIC_Eco25922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3691892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MIC_EcoK12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5512288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MIC_PaePAO1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041019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marL="0" marR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MIC_Sau29213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1073614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marL="0" marR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MIC_Kpn13882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8961028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IC50_Pae</a:t>
                      </a:r>
                      <a:r>
                        <a:rPr lang="en-US" sz="1200" b="1" baseline="30000" dirty="0"/>
                        <a:t>Ref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0.008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0.008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0.001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&lt;0.0005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9675206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IC50_Eco</a:t>
                      </a:r>
                      <a:r>
                        <a:rPr lang="en-US" sz="1200" b="1" baseline="30000" dirty="0"/>
                        <a:t>Ref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nd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0.011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&lt;0.005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novel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0.002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6917724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MIC_PaeD</a:t>
                      </a:r>
                      <a:r>
                        <a:rPr lang="en-US" sz="1200" b="1" baseline="30000" dirty="0" err="1"/>
                        <a:t>Ref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nd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25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1.56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novel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12.5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5484823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MIC_EcoTolC</a:t>
                      </a:r>
                      <a:r>
                        <a:rPr lang="en-US" sz="1200" b="1" baseline="30000" dirty="0" err="1"/>
                        <a:t>Ref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nd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200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3.13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100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2284174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MIC_PaeWT</a:t>
                      </a:r>
                      <a:r>
                        <a:rPr lang="en-US" sz="1200" b="1" baseline="30000" dirty="0" err="1"/>
                        <a:t>Ref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nd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&gt;200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&gt;200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novel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&gt;200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510907"/>
                  </a:ext>
                </a:extLst>
              </a:tr>
              <a:tr h="28898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MIC_EcoWT</a:t>
                      </a:r>
                      <a:r>
                        <a:rPr lang="en-US" sz="1200" b="1" baseline="30000" dirty="0" err="1"/>
                        <a:t>Ref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nd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&gt;200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&gt;200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novel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&gt;200 </a:t>
                      </a:r>
                      <a:r>
                        <a:rPr lang="en-US" sz="1200" b="1" dirty="0" err="1"/>
                        <a:t>uM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1834032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9248ADE4-254A-83DF-5094-DD6E9B216012}"/>
              </a:ext>
            </a:extLst>
          </p:cNvPr>
          <p:cNvGrpSpPr/>
          <p:nvPr/>
        </p:nvGrpSpPr>
        <p:grpSpPr>
          <a:xfrm>
            <a:off x="2229827" y="1179651"/>
            <a:ext cx="9569451" cy="1574178"/>
            <a:chOff x="1860550" y="1671287"/>
            <a:chExt cx="9569451" cy="157417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7DED60A-776C-7DC8-B140-07CB73FD9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60550" y="1798287"/>
              <a:ext cx="1727200" cy="14351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16573E4-15F6-274E-E484-09D93810C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9989" y="1671287"/>
              <a:ext cx="1765300" cy="15621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24C66E8-DD72-39AA-2C39-95B42E982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97528" y="1683365"/>
              <a:ext cx="1778000" cy="15621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D53C466-06BF-9742-B14E-71CB67178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97767" y="1683365"/>
              <a:ext cx="1879600" cy="15621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1C3AC31-338A-D0BD-FDC7-4D0C69596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63101" y="1671287"/>
              <a:ext cx="1866900" cy="1562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554388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FFF4E-A473-3666-772B-077196E2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C1CA-0D17-EF45-400F-BCAFE692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</a:t>
            </a:r>
            <a:r>
              <a:rPr lang="en-US" dirty="0" err="1"/>
              <a:t>Data_Amines</a:t>
            </a:r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ECA959-28A3-AB8A-6F26-B96AEEB97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065034"/>
              </p:ext>
            </p:extLst>
          </p:nvPr>
        </p:nvGraphicFramePr>
        <p:xfrm>
          <a:off x="603250" y="1097458"/>
          <a:ext cx="11433209" cy="6389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880">
                  <a:extLst>
                    <a:ext uri="{9D8B030D-6E8A-4147-A177-3AD203B41FA5}">
                      <a16:colId xmlns:a16="http://schemas.microsoft.com/office/drawing/2014/main" val="1376602469"/>
                    </a:ext>
                  </a:extLst>
                </a:gridCol>
                <a:gridCol w="1502358">
                  <a:extLst>
                    <a:ext uri="{9D8B030D-6E8A-4147-A177-3AD203B41FA5}">
                      <a16:colId xmlns:a16="http://schemas.microsoft.com/office/drawing/2014/main" val="2163170557"/>
                    </a:ext>
                  </a:extLst>
                </a:gridCol>
                <a:gridCol w="2301302">
                  <a:extLst>
                    <a:ext uri="{9D8B030D-6E8A-4147-A177-3AD203B41FA5}">
                      <a16:colId xmlns:a16="http://schemas.microsoft.com/office/drawing/2014/main" val="457361682"/>
                    </a:ext>
                  </a:extLst>
                </a:gridCol>
                <a:gridCol w="2007151">
                  <a:extLst>
                    <a:ext uri="{9D8B030D-6E8A-4147-A177-3AD203B41FA5}">
                      <a16:colId xmlns:a16="http://schemas.microsoft.com/office/drawing/2014/main" val="42936662"/>
                    </a:ext>
                  </a:extLst>
                </a:gridCol>
                <a:gridCol w="2076362">
                  <a:extLst>
                    <a:ext uri="{9D8B030D-6E8A-4147-A177-3AD203B41FA5}">
                      <a16:colId xmlns:a16="http://schemas.microsoft.com/office/drawing/2014/main" val="3757256748"/>
                    </a:ext>
                  </a:extLst>
                </a:gridCol>
                <a:gridCol w="2026156">
                  <a:extLst>
                    <a:ext uri="{9D8B030D-6E8A-4147-A177-3AD203B41FA5}">
                      <a16:colId xmlns:a16="http://schemas.microsoft.com/office/drawing/2014/main" val="3681044851"/>
                    </a:ext>
                  </a:extLst>
                </a:gridCol>
              </a:tblGrid>
              <a:tr h="206149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Round2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300163"/>
                  </a:ext>
                </a:extLst>
              </a:tr>
              <a:tr h="46889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IC50_Pae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63.47 ± 6.89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16.58 ± 0.96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1.81 ± 0.12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5.660 ± 0.410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(8.110 ± 0.600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321177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Ki_Pae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58.59 ± 9.64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cap="none" spc="0" baseline="0" dirty="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13715 ± 2286 </a:t>
                      </a:r>
                      <a:r>
                        <a:rPr lang="en-GB" sz="1200" b="1" i="0" u="none" strike="noStrike" cap="none" spc="0" baseline="0" dirty="0" err="1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nM</a:t>
                      </a:r>
                      <a:endParaRPr lang="en-GB" sz="1200" b="1" i="0" u="none" strike="noStrike" cap="none" spc="0" baseline="0" dirty="0">
                        <a:solidFill>
                          <a:schemeClr val="dk1"/>
                        </a:solidFill>
                        <a:highlight>
                          <a:srgbClr val="00FF00"/>
                        </a:highlight>
                        <a:uFillTx/>
                        <a:latin typeface="+mn-lt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1.13 ± 0.14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4245 ± 697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nM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(4988 ± 787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nM</a:t>
                      </a: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132263"/>
                  </a:ext>
                </a:extLst>
              </a:tr>
              <a:tr h="46889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MIC_EcoTolC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128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 (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lowergrowth</a:t>
                      </a: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 at 64)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0726359"/>
                  </a:ext>
                </a:extLst>
              </a:tr>
              <a:tr h="468890"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/>
                        <a:t>MBC_EcoTolC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128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1053138"/>
                  </a:ext>
                </a:extLst>
              </a:tr>
              <a:tr h="31291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MIC_Eco25922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3691892"/>
                  </a:ext>
                </a:extLst>
              </a:tr>
              <a:tr h="312910"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MIC_EcoK12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0509440"/>
                  </a:ext>
                </a:extLst>
              </a:tr>
              <a:tr h="31291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MIC_PaePAO1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041019"/>
                  </a:ext>
                </a:extLst>
              </a:tr>
              <a:tr h="31291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MIC_Sau29213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&gt;256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1073614"/>
                  </a:ext>
                </a:extLst>
              </a:tr>
              <a:tr h="468890">
                <a:tc>
                  <a:txBody>
                    <a:bodyPr/>
                    <a:lstStyle/>
                    <a:p>
                      <a:pPr marL="0" marR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MIC_Kpn13882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 (&gt;64 ug/mL (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lowergrowth</a:t>
                      </a: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 at 64))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8961028"/>
                  </a:ext>
                </a:extLst>
              </a:tr>
              <a:tr h="37185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MIC_Pmi432002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7490912"/>
                  </a:ext>
                </a:extLst>
              </a:tr>
              <a:tr h="37185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MIC_Aba6113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2437667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D6838896-0FC9-EA08-AB43-B97F3781F126}"/>
              </a:ext>
            </a:extLst>
          </p:cNvPr>
          <p:cNvGrpSpPr/>
          <p:nvPr/>
        </p:nvGrpSpPr>
        <p:grpSpPr>
          <a:xfrm>
            <a:off x="2299421" y="1114711"/>
            <a:ext cx="9513184" cy="1993900"/>
            <a:chOff x="2015805" y="1192832"/>
            <a:chExt cx="9513184" cy="19939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EDA2BF7-DE7B-A14D-52A5-8A69C651B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8814" y="1360997"/>
              <a:ext cx="1981200" cy="17272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AA0F7D-50C9-3029-500C-6283AD602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39554" y="1399097"/>
              <a:ext cx="1676400" cy="16891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E164FFB-4027-181E-D723-F6C7B9550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15805" y="1424497"/>
              <a:ext cx="1346200" cy="1663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F9130C5-7716-BA6B-03F5-1428D7B67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20058" y="1360997"/>
              <a:ext cx="1816100" cy="17145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F50C88F-D1BB-8F34-F43F-28C2741B2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50989" y="1192832"/>
              <a:ext cx="1778000" cy="1993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05050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D42E-8E1F-59B3-EF7F-2BA2F557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B8F3-F589-A2B7-0142-BFDED7BC2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</a:t>
            </a:r>
            <a:r>
              <a:rPr lang="en-US" dirty="0" err="1"/>
              <a:t>Data_Guanidiniums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DEF143-684D-CBA7-D75E-32409F99C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613305"/>
              </p:ext>
            </p:extLst>
          </p:nvPr>
        </p:nvGraphicFramePr>
        <p:xfrm>
          <a:off x="0" y="1036508"/>
          <a:ext cx="12187003" cy="645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066">
                  <a:extLst>
                    <a:ext uri="{9D8B030D-6E8A-4147-A177-3AD203B41FA5}">
                      <a16:colId xmlns:a16="http://schemas.microsoft.com/office/drawing/2014/main" val="1376602469"/>
                    </a:ext>
                  </a:extLst>
                </a:gridCol>
                <a:gridCol w="2248524">
                  <a:extLst>
                    <a:ext uri="{9D8B030D-6E8A-4147-A177-3AD203B41FA5}">
                      <a16:colId xmlns:a16="http://schemas.microsoft.com/office/drawing/2014/main" val="457361682"/>
                    </a:ext>
                  </a:extLst>
                </a:gridCol>
                <a:gridCol w="2173574">
                  <a:extLst>
                    <a:ext uri="{9D8B030D-6E8A-4147-A177-3AD203B41FA5}">
                      <a16:colId xmlns:a16="http://schemas.microsoft.com/office/drawing/2014/main" val="42936662"/>
                    </a:ext>
                  </a:extLst>
                </a:gridCol>
                <a:gridCol w="1948721">
                  <a:extLst>
                    <a:ext uri="{9D8B030D-6E8A-4147-A177-3AD203B41FA5}">
                      <a16:colId xmlns:a16="http://schemas.microsoft.com/office/drawing/2014/main" val="2962621742"/>
                    </a:ext>
                  </a:extLst>
                </a:gridCol>
                <a:gridCol w="2068643">
                  <a:extLst>
                    <a:ext uri="{9D8B030D-6E8A-4147-A177-3AD203B41FA5}">
                      <a16:colId xmlns:a16="http://schemas.microsoft.com/office/drawing/2014/main" val="3757256748"/>
                    </a:ext>
                  </a:extLst>
                </a:gridCol>
                <a:gridCol w="2323475">
                  <a:extLst>
                    <a:ext uri="{9D8B030D-6E8A-4147-A177-3AD203B41FA5}">
                      <a16:colId xmlns:a16="http://schemas.microsoft.com/office/drawing/2014/main" val="3681044851"/>
                    </a:ext>
                  </a:extLst>
                </a:gridCol>
              </a:tblGrid>
              <a:tr h="19559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Round4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300163"/>
                  </a:ext>
                </a:extLst>
              </a:tr>
              <a:tr h="34527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IC50_Pae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4.778 ± 0.463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22.59 ± 2.14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321177"/>
                  </a:ext>
                </a:extLst>
              </a:tr>
              <a:tr h="34527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Ki_Pae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3540 ± 287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nM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18086 ± 13.1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nM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132263"/>
                  </a:ext>
                </a:extLst>
              </a:tr>
              <a:tr h="36373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MIC_EcoTolC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8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0726359"/>
                  </a:ext>
                </a:extLst>
              </a:tr>
              <a:tr h="432247"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/>
                        <a:t>MBC_EcoTolC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2921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nd</a:t>
                      </a:r>
                      <a:endParaRPr lang="en-US" sz="1200" b="1" i="0" u="none" strike="noStrike" cap="none" spc="0" baseline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uFillTx/>
                        <a:latin typeface="+mn-lt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2921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nd</a:t>
                      </a:r>
                      <a:endParaRPr lang="en-US" sz="1200" b="1" i="0" u="none" strike="noStrike" cap="none" spc="0" baseline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uFillTx/>
                        <a:latin typeface="+mn-lt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2921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nd</a:t>
                      </a:r>
                      <a:endParaRPr lang="en-US" sz="1200" b="1" i="0" u="none" strike="noStrike" cap="none" spc="0" baseline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uFillTx/>
                        <a:latin typeface="+mn-lt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2921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nd</a:t>
                      </a:r>
                      <a:endParaRPr lang="en-US" sz="1200" b="1" i="0" u="none" strike="noStrike" cap="none" spc="0" baseline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uFillTx/>
                        <a:latin typeface="+mn-lt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5775360"/>
                  </a:ext>
                </a:extLst>
              </a:tr>
              <a:tr h="43224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MIC_Eco25922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(Lower turbidity at 64 and 32)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3691892"/>
                  </a:ext>
                </a:extLst>
              </a:tr>
              <a:tr h="432247"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MIC_EcoK12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(Lower turbidity at 64 and 32)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1535597"/>
                  </a:ext>
                </a:extLst>
              </a:tr>
              <a:tr h="36373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MIC_PaePAO1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(will ship soon)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041019"/>
                  </a:ext>
                </a:extLst>
              </a:tr>
              <a:tr h="36373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MIC_Sau29213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32 ug/mL (one well difference to previous likely due to higher MacFarland)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1073614"/>
                  </a:ext>
                </a:extLst>
              </a:tr>
              <a:tr h="432247">
                <a:tc>
                  <a:txBody>
                    <a:bodyPr/>
                    <a:lstStyle/>
                    <a:p>
                      <a:pPr marL="0" marR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MIC_Kpn13882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 (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lowergrowth</a:t>
                      </a: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 at 64)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8961028"/>
                  </a:ext>
                </a:extLst>
              </a:tr>
              <a:tr h="36373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MIC_Pmi432002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5259554"/>
                  </a:ext>
                </a:extLst>
              </a:tr>
              <a:tr h="25934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MIC_Aba6113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768413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7F4FDAC-B920-492B-8A83-D00649F45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853" y="1231876"/>
            <a:ext cx="1890066" cy="1541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5C5874-D6C1-38C7-2A9F-84DDC7E8C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230" y="1239307"/>
            <a:ext cx="2055072" cy="15413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E96229-4DC3-4AAA-2633-665AB0AC1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659" y="1156812"/>
            <a:ext cx="1659473" cy="16026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1CA50E-6279-DB0B-B540-8079697B0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6385" y="1158891"/>
            <a:ext cx="1680434" cy="1564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15249C-201F-E72B-4C08-03A0065688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4613" y="1177968"/>
            <a:ext cx="1517735" cy="160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423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ED667-C156-A7EE-520F-04EBF8C67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A0B4-2861-5412-83D5-189936E8A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</a:t>
            </a:r>
            <a:r>
              <a:rPr lang="en-US" dirty="0" err="1"/>
              <a:t>Data_Others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16A9C9-41A2-85FA-255E-06073C310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913492"/>
              </p:ext>
            </p:extLst>
          </p:nvPr>
        </p:nvGraphicFramePr>
        <p:xfrm>
          <a:off x="679155" y="1042283"/>
          <a:ext cx="11494993" cy="6185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880">
                  <a:extLst>
                    <a:ext uri="{9D8B030D-6E8A-4147-A177-3AD203B41FA5}">
                      <a16:colId xmlns:a16="http://schemas.microsoft.com/office/drawing/2014/main" val="1376602469"/>
                    </a:ext>
                  </a:extLst>
                </a:gridCol>
                <a:gridCol w="1518690">
                  <a:extLst>
                    <a:ext uri="{9D8B030D-6E8A-4147-A177-3AD203B41FA5}">
                      <a16:colId xmlns:a16="http://schemas.microsoft.com/office/drawing/2014/main" val="2163170557"/>
                    </a:ext>
                  </a:extLst>
                </a:gridCol>
                <a:gridCol w="1631146">
                  <a:extLst>
                    <a:ext uri="{9D8B030D-6E8A-4147-A177-3AD203B41FA5}">
                      <a16:colId xmlns:a16="http://schemas.microsoft.com/office/drawing/2014/main" val="457361682"/>
                    </a:ext>
                  </a:extLst>
                </a:gridCol>
                <a:gridCol w="2189308">
                  <a:extLst>
                    <a:ext uri="{9D8B030D-6E8A-4147-A177-3AD203B41FA5}">
                      <a16:colId xmlns:a16="http://schemas.microsoft.com/office/drawing/2014/main" val="42936662"/>
                    </a:ext>
                  </a:extLst>
                </a:gridCol>
                <a:gridCol w="2254177">
                  <a:extLst>
                    <a:ext uri="{9D8B030D-6E8A-4147-A177-3AD203B41FA5}">
                      <a16:colId xmlns:a16="http://schemas.microsoft.com/office/drawing/2014/main" val="3757256748"/>
                    </a:ext>
                  </a:extLst>
                </a:gridCol>
                <a:gridCol w="2381792">
                  <a:extLst>
                    <a:ext uri="{9D8B030D-6E8A-4147-A177-3AD203B41FA5}">
                      <a16:colId xmlns:a16="http://schemas.microsoft.com/office/drawing/2014/main" val="3681044851"/>
                    </a:ext>
                  </a:extLst>
                </a:gridCol>
              </a:tblGrid>
              <a:tr h="198649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Round3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300163"/>
                  </a:ext>
                </a:extLst>
              </a:tr>
              <a:tr h="35066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IC50_Pae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101.5 ± 14.09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359.7 ± 25.16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4.49 ± 0.45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92.9 ± 6.96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8.94 ± 1.13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321177"/>
                  </a:ext>
                </a:extLst>
              </a:tr>
              <a:tr h="35066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Ki_Pae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73.35 ± 12.59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209.7 ± 48.42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2.48 ± 0.30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69.2 ± 10.7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6.10 ± 0.74 </a:t>
                      </a:r>
                      <a:r>
                        <a:rPr lang="en-US" sz="1200" b="1" dirty="0" err="1">
                          <a:highlight>
                            <a:srgbClr val="00FF00"/>
                          </a:highlight>
                        </a:rPr>
                        <a:t>uM</a:t>
                      </a:r>
                      <a:endParaRPr lang="en-US" sz="1200" b="1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132263"/>
                  </a:ext>
                </a:extLst>
              </a:tr>
              <a:tr h="45426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MIC_EcoTolC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(lower growth at 64)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0726359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/>
                        <a:t>MBC_EcoTolC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/>
                        <a:t>nd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/>
                        <a:t>nd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/>
                        <a:t>nd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/>
                        <a:t>nd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/>
                        <a:t>nd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4628890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MIC_Eco25922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3691892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MIC_EcoK12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2814828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MIC_PaePAO1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nd</a:t>
                      </a:r>
                      <a:endParaRPr 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041019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MIC_Sau29213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1073614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marL="0" marR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MIC_Kpn13882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8961028"/>
                  </a:ext>
                </a:extLst>
              </a:tr>
              <a:tr h="45426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MIC_Pmi432002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5993446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MIC_Aba6113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highlight>
                            <a:srgbClr val="00FF00"/>
                          </a:highlight>
                        </a:rPr>
                        <a:t>&gt;64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80080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2E96D44D-9655-3E01-818F-D80E23BADEDD}"/>
              </a:ext>
            </a:extLst>
          </p:cNvPr>
          <p:cNvGrpSpPr/>
          <p:nvPr/>
        </p:nvGrpSpPr>
        <p:grpSpPr>
          <a:xfrm>
            <a:off x="2229954" y="1192832"/>
            <a:ext cx="9434701" cy="1803400"/>
            <a:chOff x="1966778" y="1302934"/>
            <a:chExt cx="9434701" cy="18034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80EFC55-3E52-8F23-DD8D-0056D5AAC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6778" y="1569634"/>
              <a:ext cx="13462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D18FF7B-F38B-9873-60D4-C15A0FFEF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21402" y="1302934"/>
              <a:ext cx="1066800" cy="18034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DC10B62-EB87-32A0-2E3A-0C8270C28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99455" y="1442634"/>
              <a:ext cx="1803400" cy="1663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1B74FEF-B74A-DFC5-26F2-3A9F9FF65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07579" y="1417234"/>
              <a:ext cx="1993900" cy="16891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F9E1398-1BF6-B0ED-7035-5EE211671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4300" y="1429934"/>
              <a:ext cx="1803400" cy="1676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925733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031A-96FE-8390-2997-6C643933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ED04-ED45-36CB-1F58-2EFF714E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</a:t>
            </a:r>
            <a:r>
              <a:rPr lang="en-US" dirty="0" err="1"/>
              <a:t>Data_Control</a:t>
            </a:r>
            <a:r>
              <a:rPr lang="en-US" dirty="0"/>
              <a:t> ABXs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69F7D2-F954-BBB0-B24A-B22DF0D3C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108732"/>
              </p:ext>
            </p:extLst>
          </p:nvPr>
        </p:nvGraphicFramePr>
        <p:xfrm>
          <a:off x="679155" y="1042283"/>
          <a:ext cx="9113201" cy="511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880">
                  <a:extLst>
                    <a:ext uri="{9D8B030D-6E8A-4147-A177-3AD203B41FA5}">
                      <a16:colId xmlns:a16="http://schemas.microsoft.com/office/drawing/2014/main" val="1376602469"/>
                    </a:ext>
                  </a:extLst>
                </a:gridCol>
                <a:gridCol w="1518690">
                  <a:extLst>
                    <a:ext uri="{9D8B030D-6E8A-4147-A177-3AD203B41FA5}">
                      <a16:colId xmlns:a16="http://schemas.microsoft.com/office/drawing/2014/main" val="2163170557"/>
                    </a:ext>
                  </a:extLst>
                </a:gridCol>
                <a:gridCol w="1631146">
                  <a:extLst>
                    <a:ext uri="{9D8B030D-6E8A-4147-A177-3AD203B41FA5}">
                      <a16:colId xmlns:a16="http://schemas.microsoft.com/office/drawing/2014/main" val="457361682"/>
                    </a:ext>
                  </a:extLst>
                </a:gridCol>
                <a:gridCol w="2189308">
                  <a:extLst>
                    <a:ext uri="{9D8B030D-6E8A-4147-A177-3AD203B41FA5}">
                      <a16:colId xmlns:a16="http://schemas.microsoft.com/office/drawing/2014/main" val="42936662"/>
                    </a:ext>
                  </a:extLst>
                </a:gridCol>
                <a:gridCol w="2254177">
                  <a:extLst>
                    <a:ext uri="{9D8B030D-6E8A-4147-A177-3AD203B41FA5}">
                      <a16:colId xmlns:a16="http://schemas.microsoft.com/office/drawing/2014/main" val="3757256748"/>
                    </a:ext>
                  </a:extLst>
                </a:gridCol>
              </a:tblGrid>
              <a:tr h="198649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Round3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Ampicilin</a:t>
                      </a:r>
                      <a:endParaRPr lang="en-US" sz="1800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Meropenem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3462">
                              <a:lumMod val="10000"/>
                              <a:lumOff val="9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AMP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3462">
                              <a:lumMod val="10000"/>
                              <a:lumOff val="9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CIPRO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300163"/>
                  </a:ext>
                </a:extLst>
              </a:tr>
              <a:tr h="45426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MIC_EcoTolC</a:t>
                      </a: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0726359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MIC_Eco25922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4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0.007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3691892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MIC_EcoK12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2814828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MIC_PaePAO1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0.5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041019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MIC_Sau29213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&lt;0.125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1073614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marL="0" marR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MIC_Kpn13882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&lt;0.125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8961028"/>
                  </a:ext>
                </a:extLst>
              </a:tr>
              <a:tr h="45426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MIC_Pmi432002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0.5 ug/mL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5993446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MIC_Aba6113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2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800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78410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00B050"/>
          </a:solidFill>
          <a:prstDash val="dash"/>
        </a:ln>
      </a:spPr>
      <a:bodyPr rot="0" spcFirstLastPara="0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1252</Words>
  <Application>Microsoft Macintosh PowerPoint</Application>
  <PresentationFormat>Widescreen</PresentationFormat>
  <Paragraphs>355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等线</vt:lpstr>
      <vt:lpstr>Aptos</vt:lpstr>
      <vt:lpstr>Aptos Display</vt:lpstr>
      <vt:lpstr>Arial</vt:lpstr>
      <vt:lpstr>Calibri</vt:lpstr>
      <vt:lpstr>Helvetica Neue</vt:lpstr>
      <vt:lpstr>Helvetica Neue Medium</vt:lpstr>
      <vt:lpstr>Office Theme</vt:lpstr>
      <vt:lpstr>30_BasicColor</vt:lpstr>
      <vt:lpstr>AZ Biodata Collection</vt:lpstr>
      <vt:lpstr>Description of the Issue</vt:lpstr>
      <vt:lpstr>Abbreviations </vt:lpstr>
      <vt:lpstr>Biological Data_Alcohols</vt:lpstr>
      <vt:lpstr>Biological Data_Amines </vt:lpstr>
      <vt:lpstr>Biological Data_Guanidiniums</vt:lpstr>
      <vt:lpstr>Biological Data_Others</vt:lpstr>
      <vt:lpstr>Biological Data_Control ABXs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Yuhang</dc:creator>
  <cp:lastModifiedBy>Wang, Yuhang</cp:lastModifiedBy>
  <cp:revision>4</cp:revision>
  <dcterms:created xsi:type="dcterms:W3CDTF">2025-01-31T13:37:29Z</dcterms:created>
  <dcterms:modified xsi:type="dcterms:W3CDTF">2025-02-24T15:35:09Z</dcterms:modified>
</cp:coreProperties>
</file>